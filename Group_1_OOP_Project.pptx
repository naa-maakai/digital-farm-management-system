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5" r:id="rId6"/>
    <p:sldId id="267" r:id="rId7"/>
    <p:sldId id="261" r:id="rId8"/>
    <p:sldId id="268" r:id="rId9"/>
    <p:sldId id="269" r:id="rId10"/>
    <p:sldId id="260" r:id="rId11"/>
    <p:sldId id="270" r:id="rId12"/>
    <p:sldId id="263" r:id="rId13"/>
    <p:sldId id="264" r:id="rId14"/>
  </p:sldIdLst>
  <p:sldSz cx="18288000" cy="10287000"/>
  <p:notesSz cx="6858000" cy="9144000"/>
  <p:embeddedFontLst>
    <p:embeddedFont>
      <p:font typeface="Clear Sans" panose="020B0604020202020204" charset="0"/>
      <p:regular r:id="rId15"/>
    </p:embeddedFont>
    <p:embeddedFont>
      <p:font typeface="Clear Sans Bold Italics" panose="020B0604020202020204" charset="0"/>
      <p:regular r:id="rId16"/>
    </p:embeddedFont>
    <p:embeddedFont>
      <p:font typeface="Tenor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>
      <p:cViewPr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7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3038488"/>
            <a:ext cx="9763125" cy="5039761"/>
            <a:chOff x="0" y="190500"/>
            <a:chExt cx="13017500" cy="6719681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549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>
                  <a:solidFill>
                    <a:srgbClr val="FFFFFF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Digital Farm Management System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199644"/>
              <a:ext cx="13017500" cy="7105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FFFFFF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GROUP 1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03985" y="965199"/>
            <a:ext cx="13680028" cy="8907728"/>
            <a:chOff x="0" y="0"/>
            <a:chExt cx="15275278" cy="9946466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4748463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defTabSz="1088136">
                <a:lnSpc>
                  <a:spcPts val="9995"/>
                </a:lnSpc>
                <a:spcAft>
                  <a:spcPts val="600"/>
                </a:spcAft>
              </a:pPr>
              <a:r>
                <a:rPr lang="en-US" sz="8329" b="1" kern="1200" spc="-165">
                  <a:solidFill>
                    <a:srgbClr val="247A24"/>
                  </a:solidFill>
                  <a:latin typeface="Tenor Sans"/>
                  <a:ea typeface="+mn-ea"/>
                  <a:cs typeface="+mn-cs"/>
                  <a:sym typeface="Tenor Sans"/>
                </a:rPr>
                <a:t>Outline</a:t>
              </a:r>
              <a:endParaRPr lang="en-US" sz="6999" b="1" spc="-139">
                <a:solidFill>
                  <a:srgbClr val="247A24"/>
                </a:solidFill>
                <a:latin typeface="Tenor Sans"/>
                <a:ea typeface="Tenor Sans"/>
                <a:cs typeface="Tenor Sans"/>
                <a:sym typeface="Tenor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815" y="2124075"/>
              <a:ext cx="14748463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36125" y="1743357"/>
              <a:ext cx="14748463" cy="82031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Introduction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Problem Statement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Need Statement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Aims and Objectives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Conceptual Framework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Limitations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Future Improvements </a:t>
              </a:r>
            </a:p>
            <a:p>
              <a:pPr marL="680085" indent="-680085" defTabSz="1088136">
                <a:lnSpc>
                  <a:spcPts val="6663"/>
                </a:lnSpc>
                <a:spcAft>
                  <a:spcPts val="600"/>
                </a:spcAft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Demo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7395825" cy="8647284"/>
            <a:chOff x="0" y="9525"/>
            <a:chExt cx="23194433" cy="11529714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3017500" cy="140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b="1" spc="-139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Introduction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371600" y="1736725"/>
              <a:ext cx="21822833" cy="9802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012259" lvl="1" indent="-571500" algn="l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Agriculture is a key sector in Ghana’s economy</a:t>
              </a:r>
            </a:p>
            <a:p>
              <a:pPr marL="1012259" lvl="1" indent="-571500" algn="l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Many farmers rely on traditional knowledge rather than data</a:t>
              </a:r>
            </a:p>
            <a:p>
              <a:pPr marL="1012259" lvl="1" indent="-571500" algn="l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Lack of structured data reduces productivity and efficiency</a:t>
              </a:r>
            </a:p>
            <a:p>
              <a:pPr marL="1012259" lvl="1" indent="-571500" algn="l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  <a:sym typeface="Clear Sans"/>
                </a:rPr>
                <a:t>Digital technologies are transforming agriculture globally</a:t>
              </a:r>
            </a:p>
            <a:p>
              <a:pPr marL="285750" lvl="0" indent="-285750">
                <a:lnSpc>
                  <a:spcPct val="200000"/>
                </a:lnSpc>
                <a:buFont typeface="Wingdings" panose="05000000000000000000" pitchFamily="2" charset="2"/>
                <a:buChar char="§"/>
              </a:pPr>
              <a:endParaRPr lang="en-US" sz="4082" dirty="0">
                <a:solidFill>
                  <a:srgbClr val="247A24"/>
                </a:solidFill>
                <a:latin typeface="Clear Sans"/>
                <a:cs typeface="Clear Sans"/>
              </a:endParaRPr>
            </a:p>
            <a:p>
              <a:pPr marL="881518" lvl="1" indent="-440759" algn="l">
                <a:lnSpc>
                  <a:spcPct val="200000"/>
                </a:lnSpc>
                <a:spcBef>
                  <a:spcPct val="0"/>
                </a:spcBef>
                <a:buAutoNum type="arabicPeriod"/>
              </a:pP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3FF7D-BDBE-F008-BF14-8F235874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2A2A7F-B513-C63C-28E9-EF8C09209380}"/>
              </a:ext>
            </a:extLst>
          </p:cNvPr>
          <p:cNvGrpSpPr/>
          <p:nvPr/>
        </p:nvGrpSpPr>
        <p:grpSpPr>
          <a:xfrm>
            <a:off x="960437" y="876300"/>
            <a:ext cx="16367125" cy="9838563"/>
            <a:chOff x="-91017" y="-2230467"/>
            <a:chExt cx="21822833" cy="13118087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25CFDA47-8C2C-8C7C-F7CB-675995013BE2}"/>
                </a:ext>
              </a:extLst>
            </p:cNvPr>
            <p:cNvSpPr txBox="1"/>
            <p:nvPr/>
          </p:nvSpPr>
          <p:spPr>
            <a:xfrm>
              <a:off x="-61134" y="-2230467"/>
              <a:ext cx="13017500" cy="140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b="1" spc="-139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Problem Statement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A11136B-064C-4C5B-C8B2-AEFFE8CA2967}"/>
                </a:ext>
              </a:extLst>
            </p:cNvPr>
            <p:cNvSpPr txBox="1"/>
            <p:nvPr/>
          </p:nvSpPr>
          <p:spPr>
            <a:xfrm>
              <a:off x="-91017" y="-830292"/>
              <a:ext cx="21822833" cy="11717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50000"/>
                </a:lnSpc>
              </a:pPr>
              <a:endParaRPr lang="en-US" dirty="0"/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Many farms lack a centralized inventory system to manage farm resources.</a:t>
              </a:r>
            </a:p>
            <a:p>
              <a:pPr marL="0" lvl="1">
                <a:lnSpc>
                  <a:spcPct val="150000"/>
                </a:lnSpc>
              </a:pPr>
              <a:r>
                <a:rPr lang="en-US" sz="4082" b="1" dirty="0">
                  <a:solidFill>
                    <a:srgbClr val="247A24"/>
                  </a:solidFill>
                  <a:latin typeface="Clear Sans"/>
                  <a:cs typeface="Clear Sans"/>
                </a:rPr>
                <a:t>As a result:</a:t>
              </a:r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Farm assets are poorly tracked</a:t>
              </a:r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Input costs are not well recorded</a:t>
              </a:r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Farmers cannot easily estimate farm value</a:t>
              </a:r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Traditional inventory management is inefficient</a:t>
              </a:r>
            </a:p>
            <a:p>
              <a:pPr marL="1371600" lvl="4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Decision making becomes difficult</a:t>
              </a:r>
            </a:p>
            <a:p>
              <a:pPr marL="440759" lvl="1" algn="l">
                <a:lnSpc>
                  <a:spcPct val="150000"/>
                </a:lnSpc>
              </a:pP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1721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F22F4-1119-AFB3-C405-2A3445FFE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0693FF3-7537-5618-1B80-05E785BC0791}"/>
              </a:ext>
            </a:extLst>
          </p:cNvPr>
          <p:cNvGrpSpPr/>
          <p:nvPr/>
        </p:nvGrpSpPr>
        <p:grpSpPr>
          <a:xfrm>
            <a:off x="1447800" y="1101118"/>
            <a:ext cx="16367125" cy="9225275"/>
            <a:chOff x="0" y="9525"/>
            <a:chExt cx="21822833" cy="12300369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9E10DB9C-811B-1BE3-8F71-DCD4F33DE473}"/>
                </a:ext>
              </a:extLst>
            </p:cNvPr>
            <p:cNvSpPr txBox="1"/>
            <p:nvPr/>
          </p:nvSpPr>
          <p:spPr>
            <a:xfrm>
              <a:off x="0" y="9525"/>
              <a:ext cx="13017500" cy="140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b="1" spc="-139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Need Statement</a:t>
              </a: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5F7E030-B95A-1CA9-02BE-482F96BA7526}"/>
                </a:ext>
              </a:extLst>
            </p:cNvPr>
            <p:cNvSpPr txBox="1"/>
            <p:nvPr/>
          </p:nvSpPr>
          <p:spPr>
            <a:xfrm>
              <a:off x="0" y="1796416"/>
              <a:ext cx="21822833" cy="105134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There is a need for a </a:t>
              </a:r>
              <a:r>
                <a:rPr lang="en-US" sz="4082" b="1" dirty="0">
                  <a:solidFill>
                    <a:srgbClr val="247A24"/>
                  </a:solidFill>
                  <a:latin typeface="Clear Sans"/>
                  <a:cs typeface="Clear Sans"/>
                </a:rPr>
                <a:t>digital farm inventory system</a:t>
              </a: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 that can:</a:t>
              </a:r>
            </a:p>
            <a:p>
              <a:pPr marL="1485900" lvl="2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Track farm assets</a:t>
              </a:r>
            </a:p>
            <a:p>
              <a:pPr marL="1485900" lvl="2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Record farm inputs</a:t>
              </a:r>
            </a:p>
            <a:p>
              <a:pPr marL="1485900" lvl="2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Manage inventory efficiently</a:t>
              </a:r>
            </a:p>
            <a:p>
              <a:pPr marL="1485900" lvl="2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Calculate farm value and revenue</a:t>
              </a:r>
            </a:p>
            <a:p>
              <a:pPr marL="1485900" lvl="2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Provide a summary of farm resources</a:t>
              </a:r>
            </a:p>
            <a:p>
              <a:pPr>
                <a:lnSpc>
                  <a:spcPct val="150000"/>
                </a:lnSpc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Such a system </a:t>
              </a:r>
              <a:r>
                <a:rPr lang="en-US" sz="4082" b="1" dirty="0">
                  <a:solidFill>
                    <a:srgbClr val="247A24"/>
                  </a:solidFill>
                  <a:latin typeface="Clear Sans"/>
                  <a:cs typeface="Clear Sans"/>
                </a:rPr>
                <a:t>helps farmers make better management decisions</a:t>
              </a: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.</a:t>
              </a:r>
            </a:p>
            <a:p>
              <a:pPr lvl="0"/>
              <a:endParaRPr lang="en-US" sz="4000" dirty="0"/>
            </a:p>
            <a:p>
              <a:pPr marL="440759" lvl="1" algn="l">
                <a:lnSpc>
                  <a:spcPts val="5716"/>
                </a:lnSpc>
              </a:pPr>
              <a:endParaRPr lang="en-US" sz="4000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708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66DA-C77A-84B6-CF59-B1BFDC62A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42B026-0D99-BE2B-3FF3-69784A4085A3}"/>
              </a:ext>
            </a:extLst>
          </p:cNvPr>
          <p:cNvGrpSpPr/>
          <p:nvPr/>
        </p:nvGrpSpPr>
        <p:grpSpPr>
          <a:xfrm>
            <a:off x="1422400" y="1101118"/>
            <a:ext cx="15706427" cy="8074200"/>
            <a:chOff x="-35291" y="9525"/>
            <a:chExt cx="21822833" cy="10765603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B17D106B-5066-92BF-6CAD-362A784C8CA6}"/>
                </a:ext>
              </a:extLst>
            </p:cNvPr>
            <p:cNvSpPr txBox="1"/>
            <p:nvPr/>
          </p:nvSpPr>
          <p:spPr>
            <a:xfrm>
              <a:off x="0" y="9525"/>
              <a:ext cx="13017500" cy="140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b="1" spc="-139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Aims and Objectives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28D2EF-B161-9FB8-93D0-D414CF71D69E}"/>
                </a:ext>
              </a:extLst>
            </p:cNvPr>
            <p:cNvSpPr txBox="1"/>
            <p:nvPr/>
          </p:nvSpPr>
          <p:spPr>
            <a:xfrm>
              <a:off x="0" y="212403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82872F7-C7D8-830B-BFC3-3CAB34BE34B9}"/>
                </a:ext>
              </a:extLst>
            </p:cNvPr>
            <p:cNvSpPr txBox="1"/>
            <p:nvPr/>
          </p:nvSpPr>
          <p:spPr>
            <a:xfrm>
              <a:off x="-35291" y="2124039"/>
              <a:ext cx="21822833" cy="8651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4082" b="1" dirty="0">
                  <a:solidFill>
                    <a:srgbClr val="247A24"/>
                  </a:solidFill>
                  <a:latin typeface="Clear Sans"/>
                  <a:cs typeface="Clear Sans"/>
                </a:rPr>
                <a:t>Aim of the Project</a:t>
              </a:r>
            </a:p>
            <a:p>
              <a:pPr marL="1028700" lvl="1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To design a Digital Farm Inventory Management System</a:t>
              </a:r>
            </a:p>
            <a:p>
              <a:pPr>
                <a:lnSpc>
                  <a:spcPct val="150000"/>
                </a:lnSpc>
              </a:pPr>
              <a:r>
                <a:rPr lang="en-US" sz="4082" b="1" dirty="0">
                  <a:solidFill>
                    <a:srgbClr val="247A24"/>
                  </a:solidFill>
                  <a:latin typeface="Clear Sans"/>
                  <a:cs typeface="Clear Sans"/>
                </a:rPr>
                <a:t>Objectives of the Project</a:t>
              </a:r>
            </a:p>
            <a:p>
              <a:pPr marL="1028700" lvl="1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Record crops, animals, equipment, and farm inputs.</a:t>
              </a:r>
            </a:p>
            <a:p>
              <a:pPr marL="1028700" lvl="1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Allow adding, updating, and removing items.</a:t>
              </a:r>
            </a:p>
            <a:p>
              <a:pPr marL="1028700" lvl="1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Calculate asset values and operational costs.</a:t>
              </a:r>
            </a:p>
            <a:p>
              <a:pPr marL="1028700" lvl="1" indent="-571500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cs typeface="Clear Sans"/>
                </a:rPr>
                <a:t>Generate financial summaries of the farm.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3159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85975"/>
            <a:ext cx="16592903" cy="1408721"/>
            <a:chOff x="0" y="0"/>
            <a:chExt cx="22123870" cy="1878295"/>
          </a:xfrm>
        </p:grpSpPr>
        <p:sp>
          <p:nvSpPr>
            <p:cNvPr id="3" name="TextBox 3"/>
            <p:cNvSpPr txBox="1"/>
            <p:nvPr/>
          </p:nvSpPr>
          <p:spPr>
            <a:xfrm>
              <a:off x="0" y="-47625"/>
              <a:ext cx="1319707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65647"/>
              <a:ext cx="22123870" cy="91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16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71549" y="699558"/>
            <a:ext cx="1309334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b="1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Conceptual Framework of DFMS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5DC3B4F-AE5D-5F9E-44D7-0EBE9897D11C}"/>
              </a:ext>
            </a:extLst>
          </p:cNvPr>
          <p:cNvGrpSpPr/>
          <p:nvPr/>
        </p:nvGrpSpPr>
        <p:grpSpPr>
          <a:xfrm>
            <a:off x="2590801" y="1760010"/>
            <a:ext cx="11734800" cy="8260290"/>
            <a:chOff x="0" y="0"/>
            <a:chExt cx="9942805" cy="11132261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C4F38A9-1132-F79F-9583-F74BBFC3179F}"/>
                </a:ext>
              </a:extLst>
            </p:cNvPr>
            <p:cNvSpPr/>
            <p:nvPr/>
          </p:nvSpPr>
          <p:spPr>
            <a:xfrm>
              <a:off x="0" y="0"/>
              <a:ext cx="9942830" cy="11132312"/>
            </a:xfrm>
            <a:custGeom>
              <a:avLst/>
              <a:gdLst/>
              <a:ahLst/>
              <a:cxnLst/>
              <a:rect l="l" t="t" r="r" b="b"/>
              <a:pathLst>
                <a:path w="9942830" h="11132312">
                  <a:moveTo>
                    <a:pt x="0" y="0"/>
                  </a:moveTo>
                  <a:lnTo>
                    <a:pt x="9942830" y="0"/>
                  </a:lnTo>
                  <a:lnTo>
                    <a:pt x="9942830" y="11132312"/>
                  </a:lnTo>
                  <a:lnTo>
                    <a:pt x="0" y="11132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869" b="-88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70C0B-4417-B7EA-BB93-7B117066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3BE050-1073-5DE3-1436-7569D44C1877}"/>
              </a:ext>
            </a:extLst>
          </p:cNvPr>
          <p:cNvGrpSpPr/>
          <p:nvPr/>
        </p:nvGrpSpPr>
        <p:grpSpPr>
          <a:xfrm>
            <a:off x="1028700" y="2050256"/>
            <a:ext cx="16592903" cy="1435908"/>
            <a:chOff x="0" y="-47625"/>
            <a:chExt cx="22123870" cy="1914544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0A2AD659-99BA-568D-2E36-5E80D81A2A6E}"/>
                </a:ext>
              </a:extLst>
            </p:cNvPr>
            <p:cNvSpPr txBox="1"/>
            <p:nvPr/>
          </p:nvSpPr>
          <p:spPr>
            <a:xfrm>
              <a:off x="0" y="-47625"/>
              <a:ext cx="1319707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6EC046-703D-008E-8C52-92CA43D0AFB0}"/>
                </a:ext>
              </a:extLst>
            </p:cNvPr>
            <p:cNvSpPr txBox="1"/>
            <p:nvPr/>
          </p:nvSpPr>
          <p:spPr>
            <a:xfrm>
              <a:off x="0" y="965647"/>
              <a:ext cx="22123870" cy="901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16"/>
                </a:lnSpc>
              </a:pP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7B9073E6-7080-A778-3CB3-065D87677BF9}"/>
              </a:ext>
            </a:extLst>
          </p:cNvPr>
          <p:cNvSpPr txBox="1"/>
          <p:nvPr/>
        </p:nvSpPr>
        <p:spPr>
          <a:xfrm>
            <a:off x="1028700" y="1353767"/>
            <a:ext cx="15354299" cy="1026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Main Interface of the Inventory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D0DB1F-945B-F6B3-67D6-F75CA980241F}"/>
              </a:ext>
            </a:extLst>
          </p:cNvPr>
          <p:cNvSpPr txBox="1"/>
          <p:nvPr/>
        </p:nvSpPr>
        <p:spPr>
          <a:xfrm>
            <a:off x="2209800" y="2444115"/>
            <a:ext cx="11582400" cy="8191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82" b="1" dirty="0">
                <a:solidFill>
                  <a:srgbClr val="247A24"/>
                </a:solidFill>
                <a:latin typeface="Clear Sans"/>
                <a:cs typeface="Clear Sans"/>
              </a:rPr>
              <a:t>Key features of the system</a:t>
            </a:r>
          </a:p>
          <a:p>
            <a:pPr marL="1657350" lvl="2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Add inventory items</a:t>
            </a:r>
          </a:p>
          <a:p>
            <a:pPr marL="1657350" lvl="2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Update items</a:t>
            </a:r>
          </a:p>
          <a:p>
            <a:pPr marL="1657350" lvl="2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Remove items</a:t>
            </a:r>
          </a:p>
          <a:p>
            <a:pPr marL="1657350" lvl="2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Display inventory report</a:t>
            </a:r>
          </a:p>
          <a:p>
            <a:pPr marL="1657350" lvl="2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Generate financial summary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6748-0E6C-8FA1-9968-2A1FF207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1265B77-8FA5-A5BF-4DEF-F89F957F9808}"/>
              </a:ext>
            </a:extLst>
          </p:cNvPr>
          <p:cNvSpPr txBox="1"/>
          <p:nvPr/>
        </p:nvSpPr>
        <p:spPr>
          <a:xfrm>
            <a:off x="2362200" y="1257300"/>
            <a:ext cx="97631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b="1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Limitations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457F6-62D9-47A4-6AAE-FACE0DCD2553}"/>
              </a:ext>
            </a:extLst>
          </p:cNvPr>
          <p:cNvSpPr txBox="1"/>
          <p:nvPr/>
        </p:nvSpPr>
        <p:spPr>
          <a:xfrm>
            <a:off x="3581400" y="2628900"/>
            <a:ext cx="12039600" cy="1013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Requires basic computer literacy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Not yet connected to sensors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Data must be entered manually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Currently runs locally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Limited real farm dataset for testing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5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5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5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5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5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9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50256"/>
            <a:ext cx="16592903" cy="1435908"/>
            <a:chOff x="0" y="-47625"/>
            <a:chExt cx="22123870" cy="1914544"/>
          </a:xfrm>
        </p:grpSpPr>
        <p:sp>
          <p:nvSpPr>
            <p:cNvPr id="3" name="TextBox 3"/>
            <p:cNvSpPr txBox="1"/>
            <p:nvPr/>
          </p:nvSpPr>
          <p:spPr>
            <a:xfrm>
              <a:off x="0" y="-47625"/>
              <a:ext cx="1319707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965647"/>
              <a:ext cx="22123870" cy="901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16"/>
                </a:lnSpc>
              </a:pP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62200" y="1228783"/>
            <a:ext cx="97631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Future Improvements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BFA3E8-9A34-DCAD-D01A-AF00C16C108F}"/>
              </a:ext>
            </a:extLst>
          </p:cNvPr>
          <p:cNvSpPr txBox="1"/>
          <p:nvPr/>
        </p:nvSpPr>
        <p:spPr>
          <a:xfrm>
            <a:off x="3733800" y="2810210"/>
            <a:ext cx="12268200" cy="785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Mobile application for farmers</a:t>
            </a:r>
          </a:p>
          <a:p>
            <a:pPr marL="57150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Cloud database sensor integration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Transactional features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AI-based yield prediction</a:t>
            </a:r>
          </a:p>
          <a:p>
            <a:pPr marL="571500" lvl="0" indent="-571500" algn="just">
              <a:lnSpc>
                <a:spcPct val="150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Multi-farm management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8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AF03-3179-2846-B39E-DA8128DFD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4D30563-108A-83DE-9BB0-76D74F502CA9}"/>
              </a:ext>
            </a:extLst>
          </p:cNvPr>
          <p:cNvGrpSpPr/>
          <p:nvPr/>
        </p:nvGrpSpPr>
        <p:grpSpPr>
          <a:xfrm>
            <a:off x="1028700" y="2050256"/>
            <a:ext cx="16592903" cy="1435908"/>
            <a:chOff x="0" y="-47625"/>
            <a:chExt cx="22123870" cy="1914544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5049491B-96FA-4C60-6DA9-8CC01401B1AF}"/>
                </a:ext>
              </a:extLst>
            </p:cNvPr>
            <p:cNvSpPr txBox="1"/>
            <p:nvPr/>
          </p:nvSpPr>
          <p:spPr>
            <a:xfrm>
              <a:off x="0" y="-47625"/>
              <a:ext cx="1319707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6D4C5F-AA18-6433-F373-1EC9EE9B17A0}"/>
                </a:ext>
              </a:extLst>
            </p:cNvPr>
            <p:cNvSpPr txBox="1"/>
            <p:nvPr/>
          </p:nvSpPr>
          <p:spPr>
            <a:xfrm>
              <a:off x="0" y="965647"/>
              <a:ext cx="22123870" cy="9012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16"/>
                </a:lnSpc>
              </a:pP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0373DEA8-C6EA-BC8C-E30D-28179F9AF478}"/>
              </a:ext>
            </a:extLst>
          </p:cNvPr>
          <p:cNvSpPr txBox="1"/>
          <p:nvPr/>
        </p:nvSpPr>
        <p:spPr>
          <a:xfrm>
            <a:off x="4953000" y="1143866"/>
            <a:ext cx="9763125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b="1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In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9759FC-ED14-F60A-C369-1D691B21D6DC}"/>
              </a:ext>
            </a:extLst>
          </p:cNvPr>
          <p:cNvSpPr txBox="1"/>
          <p:nvPr/>
        </p:nvSpPr>
        <p:spPr>
          <a:xfrm>
            <a:off x="1447800" y="2747064"/>
            <a:ext cx="14630400" cy="8046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The Digital Farm Inventory System provides a simple and effective way to manage farm resources.</a:t>
            </a:r>
          </a:p>
          <a:p>
            <a:endParaRPr lang="en-US" sz="4082" dirty="0">
              <a:solidFill>
                <a:srgbClr val="247A24"/>
              </a:solidFill>
              <a:latin typeface="Clear Sans"/>
              <a:cs typeface="Clear Sans"/>
            </a:endParaRPr>
          </a:p>
          <a:p>
            <a:r>
              <a:rPr lang="en-US" sz="4082" b="1" dirty="0">
                <a:solidFill>
                  <a:srgbClr val="247A24"/>
                </a:solidFill>
                <a:latin typeface="Clear Sans"/>
                <a:cs typeface="Clear Sans"/>
              </a:rPr>
              <a:t>It helps farmers: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Track assets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Monitor costs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Estimate farm value</a:t>
            </a:r>
          </a:p>
          <a:p>
            <a:pPr marL="1485900" lvl="2" indent="-571500">
              <a:buFont typeface="Wingdings" panose="05000000000000000000" pitchFamily="2" charset="2"/>
              <a:buChar char="§"/>
            </a:pPr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Improve farm decision-making</a:t>
            </a:r>
          </a:p>
          <a:p>
            <a:pPr lvl="0"/>
            <a:endParaRPr lang="en-US" sz="4082" dirty="0">
              <a:solidFill>
                <a:srgbClr val="247A24"/>
              </a:solidFill>
              <a:latin typeface="Clear Sans"/>
              <a:cs typeface="Clear Sans"/>
            </a:endParaRPr>
          </a:p>
          <a:p>
            <a:r>
              <a:rPr lang="en-US" sz="4082" dirty="0">
                <a:solidFill>
                  <a:srgbClr val="247A24"/>
                </a:solidFill>
                <a:latin typeface="Clear Sans"/>
                <a:cs typeface="Clear Sans"/>
              </a:rPr>
              <a:t>This system can serve as </a:t>
            </a:r>
            <a:r>
              <a:rPr lang="en-US" sz="4082" b="1" dirty="0">
                <a:solidFill>
                  <a:srgbClr val="247A24"/>
                </a:solidFill>
                <a:latin typeface="Clear Sans"/>
                <a:cs typeface="Clear Sans"/>
              </a:rPr>
              <a:t>a foundation for smart agriculture solutions.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036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05201" y="1943100"/>
            <a:ext cx="10515598" cy="5289496"/>
            <a:chOff x="0" y="-47625"/>
            <a:chExt cx="26781525" cy="7052661"/>
          </a:xfrm>
        </p:grpSpPr>
        <p:sp>
          <p:nvSpPr>
            <p:cNvPr id="3" name="TextBox 3"/>
            <p:cNvSpPr txBox="1"/>
            <p:nvPr/>
          </p:nvSpPr>
          <p:spPr>
            <a:xfrm>
              <a:off x="0" y="-47625"/>
              <a:ext cx="13197071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657655" y="866775"/>
              <a:ext cx="22123870" cy="61382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1518" lvl="1" indent="-440759">
                <a:lnSpc>
                  <a:spcPct val="150000"/>
                </a:lnSpc>
                <a:buFontTx/>
                <a:buAutoNum type="arabicPeriod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Henry Amoah</a:t>
              </a:r>
            </a:p>
            <a:p>
              <a:pPr marL="881518" lvl="1" indent="-440759" algn="l">
                <a:lnSpc>
                  <a:spcPct val="150000"/>
                </a:lnSpc>
                <a:buAutoNum type="arabicPeriod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Edward Amenyaglo</a:t>
              </a:r>
            </a:p>
            <a:p>
              <a:pPr marL="881518" lvl="1" indent="-440759" algn="l">
                <a:lnSpc>
                  <a:spcPct val="150000"/>
                </a:lnSpc>
                <a:buAutoNum type="arabicPeriod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Roseline </a:t>
              </a:r>
              <a:r>
                <a:rPr lang="en-US" sz="4082" dirty="0" err="1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Akrong</a:t>
              </a: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881518" lvl="1" indent="-440759" algn="l">
                <a:lnSpc>
                  <a:spcPct val="150000"/>
                </a:lnSpc>
                <a:buAutoNum type="arabicPeriod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Priscilla Yayra </a:t>
              </a:r>
              <a:r>
                <a:rPr lang="en-US" sz="4082" dirty="0" err="1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Ewoade</a:t>
              </a: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881518" lvl="1" indent="-440759" algn="l">
                <a:lnSpc>
                  <a:spcPct val="150000"/>
                </a:lnSpc>
                <a:spcBef>
                  <a:spcPct val="0"/>
                </a:spcBef>
                <a:buAutoNum type="arabicPeriod"/>
              </a:pPr>
              <a:r>
                <a:rPr lang="en-US" sz="4082" dirty="0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Felicity </a:t>
              </a:r>
              <a:r>
                <a:rPr lang="en-US" sz="4082" dirty="0" err="1">
                  <a:solidFill>
                    <a:srgbClr val="247A24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Dugbazah</a:t>
              </a:r>
              <a:endParaRPr lang="en-US" sz="4082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886200" y="1092279"/>
            <a:ext cx="1309334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247A24"/>
                </a:solidFill>
                <a:latin typeface="Clear Sans"/>
                <a:ea typeface="Clear Sans"/>
                <a:cs typeface="Clear Sans"/>
                <a:sym typeface="Clear Sans"/>
              </a:rPr>
              <a:t>Group Members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7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50154" y="1035844"/>
            <a:ext cx="11537611" cy="4145756"/>
            <a:chOff x="0" y="9525"/>
            <a:chExt cx="15383481" cy="5527674"/>
          </a:xfrm>
        </p:grpSpPr>
        <p:sp>
          <p:nvSpPr>
            <p:cNvPr id="3" name="TextBox 3"/>
            <p:cNvSpPr txBox="1"/>
            <p:nvPr/>
          </p:nvSpPr>
          <p:spPr>
            <a:xfrm>
              <a:off x="0" y="2854379"/>
              <a:ext cx="1181299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238728" y="3474066"/>
              <a:ext cx="13144753" cy="2063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019"/>
                </a:lnSpc>
                <a:spcBef>
                  <a:spcPct val="0"/>
                </a:spcBef>
              </a:pPr>
              <a:r>
                <a:rPr lang="en-US" sz="9299" b="1" i="1" dirty="0">
                  <a:solidFill>
                    <a:srgbClr val="FFFFFF"/>
                  </a:solidFill>
                  <a:latin typeface="Clear Sans Bold Italics"/>
                  <a:ea typeface="Clear Sans Bold Italics"/>
                  <a:cs typeface="Clear Sans Bold Italics"/>
                  <a:sym typeface="Clear Sans Bold Italics"/>
                </a:rPr>
                <a:t>Thank you.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1812990" cy="1400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324</Words>
  <Application>Microsoft Office PowerPoint</Application>
  <PresentationFormat>Custom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Symbol</vt:lpstr>
      <vt:lpstr>Wingdings</vt:lpstr>
      <vt:lpstr>Arial</vt:lpstr>
      <vt:lpstr>Clear Sans</vt:lpstr>
      <vt:lpstr>Clear Sans Bold Italics</vt:lpstr>
      <vt:lpstr>Calibri</vt:lpstr>
      <vt:lpstr>Tenor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Farm Management System</dc:title>
  <dc:creator>USER</dc:creator>
  <cp:lastModifiedBy>Sirr Henry</cp:lastModifiedBy>
  <cp:revision>17</cp:revision>
  <dcterms:created xsi:type="dcterms:W3CDTF">2006-08-16T00:00:00Z</dcterms:created>
  <dcterms:modified xsi:type="dcterms:W3CDTF">2026-03-06T13:50:47Z</dcterms:modified>
  <dc:identifier>DAHCmj9q3Bo</dc:identifier>
</cp:coreProperties>
</file>